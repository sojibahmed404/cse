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63" r:id="rId11"/>
    <p:sldId id="264" r:id="rId12"/>
    <p:sldId id="265" r:id="rId13"/>
    <p:sldId id="275" r:id="rId14"/>
    <p:sldId id="276" r:id="rId15"/>
    <p:sldId id="277" r:id="rId16"/>
    <p:sldId id="278" r:id="rId17"/>
    <p:sldId id="279" r:id="rId18"/>
    <p:sldId id="30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407" autoAdjust="0"/>
  </p:normalViewPr>
  <p:slideViewPr>
    <p:cSldViewPr snapToGrid="0" snapToObjects="1"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0EDAA-5427-46B1-9E4F-73A4CC9799AE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3F211-9546-447F-92DC-AA0F9B58C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64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FFFFF"/>
                </a:solidFill>
                <a:effectLst/>
                <a:highlight>
                  <a:srgbClr val="34457F"/>
                </a:highlight>
                <a:latin typeface="Google Sans"/>
              </a:rPr>
              <a:t>Electronic devices are a specialized kind of electrical devices in which electric power is predominantly used for data processing rather than the generation of mechanical forces</a:t>
            </a:r>
            <a:r>
              <a:rPr lang="en-US" b="0" i="0" dirty="0">
                <a:solidFill>
                  <a:srgbClr val="BFBFBF"/>
                </a:solidFill>
                <a:effectLst/>
                <a:highlight>
                  <a:srgbClr val="1F1F1F"/>
                </a:highlight>
                <a:latin typeface="Google Sans"/>
              </a:rPr>
              <a:t>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3F211-9546-447F-92DC-AA0F9B58C8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69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https://www.youtube.com/watch?v=jiCUjdCoa7I&amp;list=PLXpUqfsKIxWcknQtSIhRNpcONLC9rBdw0</a:t>
            </a:r>
          </a:p>
          <a:p>
            <a:r>
              <a:rPr lang="en-US" b="0" i="0" dirty="0">
                <a:solidFill>
                  <a:srgbClr val="4C575F"/>
                </a:solidFill>
                <a:effectLst/>
                <a:highlight>
                  <a:srgbClr val="FFFFFF"/>
                </a:highlight>
                <a:latin typeface="mrs-eaves-xl-serif"/>
              </a:rPr>
              <a:t>AD stands for </a:t>
            </a:r>
            <a:r>
              <a:rPr lang="en-US" b="0" i="1" dirty="0">
                <a:solidFill>
                  <a:srgbClr val="4C575F"/>
                </a:solidFill>
                <a:effectLst/>
                <a:highlight>
                  <a:srgbClr val="FFFFFF"/>
                </a:highlight>
                <a:latin typeface="mrs-eaves-xl-serif"/>
              </a:rPr>
              <a:t>Anno Domini</a:t>
            </a:r>
            <a:r>
              <a:rPr lang="en-US" b="0" i="0" dirty="0">
                <a:solidFill>
                  <a:srgbClr val="4C575F"/>
                </a:solidFill>
                <a:effectLst/>
                <a:highlight>
                  <a:srgbClr val="FFFFFF"/>
                </a:highlight>
                <a:latin typeface="mrs-eaves-xl-serif"/>
              </a:rPr>
              <a:t>, Latin for “in the year of the Lord”, while BC stands for “before Christ”.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3F211-9546-447F-92DC-AA0F9B58C8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96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Electronic Numerical Integrator And Computer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3F211-9546-447F-92DC-AA0F9B58C8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10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90525"/>
            <a:ext cx="5504688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8688" y="6356350"/>
            <a:ext cx="4736592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6494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1" y="5257799"/>
            <a:ext cx="5457918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89965"/>
            <a:ext cx="5499847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3847" y="6356350"/>
            <a:ext cx="473411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459" y="6356350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200400" y="2877671"/>
            <a:ext cx="5646867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Drag picture to placeholder or click icon to add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940" y="268288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423" y="914400"/>
            <a:ext cx="6508377" cy="1143000"/>
          </a:xfrm>
        </p:spPr>
        <p:txBody>
          <a:bodyPr/>
          <a:lstStyle/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423" y="2209800"/>
            <a:ext cx="6508377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0"/>
            <a:ext cx="1752600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8423" y="6356350"/>
            <a:ext cx="492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694" y="361016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5" y="1976718"/>
            <a:ext cx="164592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1" y="3429000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600" y="6356350"/>
            <a:ext cx="1622612" cy="365125"/>
          </a:xfrm>
        </p:spPr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53115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1212" y="6104965"/>
            <a:ext cx="506506" cy="365125"/>
          </a:xfrm>
        </p:spPr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4" y="268288"/>
            <a:ext cx="29718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9391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9391" y="2689411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214562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57199" y="4224973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91401" cy="1143000"/>
          </a:xfrm>
        </p:spPr>
        <p:txBody>
          <a:bodyPr/>
          <a:lstStyle/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5720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052" y="990600"/>
            <a:ext cx="356616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0"/>
            <a:ext cx="356616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1365" y="6124014"/>
            <a:ext cx="1752600" cy="365125"/>
          </a:xfrm>
        </p:spPr>
        <p:txBody>
          <a:bodyPr/>
          <a:lstStyle>
            <a:lvl1pPr algn="l">
              <a:defRPr/>
            </a:lvl1pPr>
          </a:lstStyle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812" y="6356350"/>
            <a:ext cx="386378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760258" y="990600"/>
            <a:ext cx="4096512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6775" y="268288"/>
            <a:ext cx="1639457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6858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35471" y="268288"/>
            <a:ext cx="720761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3006726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1"/>
            <a:ext cx="6475412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3352800" y="268288"/>
            <a:ext cx="47019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Drag picture to placeholder or click icon to add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33528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Drag picture to placeholder or click icon to add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5750500" y="2131935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799" y="1035424"/>
            <a:ext cx="1322295" cy="5090739"/>
          </a:xfrm>
        </p:spPr>
        <p:txBody>
          <a:bodyPr vert="eaVert" anchor="t" anchorCtr="0"/>
          <a:lstStyle/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35424"/>
            <a:ext cx="60198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177F0-4675-408B-9594-3AD6610F7C5C}" type="uaqdatetime1">
              <a:rPr lang="ar-SA" smtClean="0"/>
              <a:t>27/12/1445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30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7788-12CD-4F7E-B1F3-AA3654E1C8B5}" type="uaqdatetime1">
              <a:rPr lang="ar-SA" smtClean="0"/>
              <a:t>27/12/1445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462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3997-97C1-45CA-BF99-05BBA4723AF7}" type="uaqdatetime1">
              <a:rPr lang="ar-SA" smtClean="0"/>
              <a:t>27/12/1445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187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27D2-EF1D-45DC-AA73-7664F8981547}" type="uaqdatetime1">
              <a:rPr lang="ar-SA" smtClean="0"/>
              <a:t>27/12/1445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751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66DF9-D457-439D-9E05-CB58B82FEB55}" type="uaqdatetime1">
              <a:rPr lang="ar-SA" smtClean="0"/>
              <a:t>27/12/1445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953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24F5-29B4-4B8E-9900-4175594ABFB0}" type="uaqdatetime1">
              <a:rPr lang="ar-SA" smtClean="0"/>
              <a:t>27/12/1445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168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041FC-DAB5-4FD1-8669-71E622AC2409}" type="uaqdatetime1">
              <a:rPr lang="ar-SA" smtClean="0"/>
              <a:t>27/12/1445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199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0D400-27E1-4D5F-B2E5-52238D402DDB}" type="uaqdatetime1">
              <a:rPr lang="ar-SA" smtClean="0"/>
              <a:t>27/12/1445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434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36FA1-B67C-4153-9291-8DE882C5A55A}" type="uaqdatetime1">
              <a:rPr lang="ar-SA" smtClean="0"/>
              <a:t>27/12/1445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381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0380-D629-4AF4-870F-A1CE60A1452A}" type="uaqdatetime1">
              <a:rPr lang="ar-SA" smtClean="0"/>
              <a:t>27/12/1445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959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7F9-B809-42C9-9935-CB2E078D8AAC}" type="uaqdatetime1">
              <a:rPr lang="ar-SA" smtClean="0"/>
              <a:t>27/12/1445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84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it-IT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209800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8659" y="6356350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1A24CD3-204F-4468-8EE4-28A6668D006A}" type="datetimeFigureOut">
              <a:rPr lang="en-US" smtClean="0"/>
              <a:pPr/>
              <a:t>7/3/2024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812" y="6356350"/>
            <a:ext cx="600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6494" y="361016"/>
            <a:ext cx="5065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57AF16DE-A0D5-4438-950F-5B1E159C2C2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B6D0A-C22A-49FA-A062-978B96FC0B1F}" type="uaqdatetime1">
              <a:rPr lang="ar-SA" smtClean="0"/>
              <a:t>27/12/1445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5B1B7-8D8F-4EBE-A50D-3F597A7FE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2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4805" y="4313516"/>
            <a:ext cx="5458968" cy="1048684"/>
          </a:xfrm>
        </p:spPr>
        <p:txBody>
          <a:bodyPr>
            <a:noAutofit/>
          </a:bodyPr>
          <a:lstStyle/>
          <a:p>
            <a:r>
              <a:rPr lang="en-US" sz="3600" b="1" dirty="0"/>
              <a:t>Introduction to Computers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88760" y="5481914"/>
            <a:ext cx="5458968" cy="944643"/>
          </a:xfrm>
        </p:spPr>
        <p:txBody>
          <a:bodyPr>
            <a:normAutofit/>
          </a:bodyPr>
          <a:lstStyle/>
          <a:p>
            <a:r>
              <a:rPr lang="en-US" b="1" dirty="0"/>
              <a:t>Course Teacher:</a:t>
            </a:r>
          </a:p>
          <a:p>
            <a:r>
              <a:rPr lang="en-US" dirty="0"/>
              <a:t>Md. Rahat Khan</a:t>
            </a:r>
          </a:p>
          <a:p>
            <a:r>
              <a:rPr lang="en-US" dirty="0"/>
              <a:t>Lecturer, Dept. of CSE</a:t>
            </a:r>
          </a:p>
          <a:p>
            <a:endParaRPr lang="en-US" dirty="0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682093BE-022B-987D-5DD2-ACC63C17F5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4375" y="1924491"/>
            <a:ext cx="3864935" cy="3864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7E2335-A0F9-F710-2AFB-A61DE9290D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863" y="468657"/>
            <a:ext cx="5406230" cy="346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98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16760"/>
            <a:ext cx="6508377" cy="1143000"/>
          </a:xfrm>
        </p:spPr>
        <p:txBody>
          <a:bodyPr/>
          <a:lstStyle/>
          <a:p>
            <a:r>
              <a:rPr lang="en-US" b="1" dirty="0"/>
              <a:t>Learning Objectives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8373036" cy="3916363"/>
          </a:xfrm>
        </p:spPr>
        <p:txBody>
          <a:bodyPr>
            <a:noAutofit/>
          </a:bodyPr>
          <a:lstStyle/>
          <a:p>
            <a:r>
              <a:rPr lang="en-US" sz="2800" b="1" dirty="0"/>
              <a:t>In this lecture you will learn about:</a:t>
            </a:r>
            <a:r>
              <a:rPr lang="en-US" sz="2800" dirty="0"/>
              <a:t> </a:t>
            </a:r>
          </a:p>
          <a:p>
            <a:pPr>
              <a:buFont typeface="Wingdings" charset="2"/>
              <a:buChar char="ü"/>
            </a:pPr>
            <a:r>
              <a:rPr lang="en-US" sz="2400" dirty="0"/>
              <a:t>Computer</a:t>
            </a:r>
          </a:p>
          <a:p>
            <a:pPr>
              <a:buFont typeface="Wingdings" charset="2"/>
              <a:buChar char="ü"/>
            </a:pPr>
            <a:r>
              <a:rPr lang="en-US" sz="2400" dirty="0"/>
              <a:t>Data processing</a:t>
            </a:r>
          </a:p>
          <a:p>
            <a:pPr>
              <a:buFont typeface="Wingdings" charset="2"/>
              <a:buChar char="ü"/>
            </a:pPr>
            <a:r>
              <a:rPr lang="en-US" sz="2400" dirty="0"/>
              <a:t>Characteristic features of computers</a:t>
            </a:r>
          </a:p>
          <a:p>
            <a:pPr>
              <a:buFont typeface="Wingdings" charset="2"/>
              <a:buChar char="ü"/>
            </a:pPr>
            <a:r>
              <a:rPr lang="en-US" sz="2400" dirty="0"/>
              <a:t>Computers’ evolution to their present form</a:t>
            </a:r>
          </a:p>
          <a:p>
            <a:pPr>
              <a:buFont typeface="Wingdings" charset="2"/>
              <a:buChar char="ü"/>
            </a:pPr>
            <a:r>
              <a:rPr lang="en-US" sz="2400" dirty="0"/>
              <a:t>Computer generations</a:t>
            </a:r>
          </a:p>
          <a:p>
            <a:pPr>
              <a:buFont typeface="Wingdings" charset="2"/>
              <a:buChar char="ü"/>
            </a:pPr>
            <a:r>
              <a:rPr lang="en-US" sz="2400" dirty="0"/>
              <a:t>Characteristic features of each computer generation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94E42-88E8-9FFC-638E-C648AE499690}"/>
              </a:ext>
            </a:extLst>
          </p:cNvPr>
          <p:cNvSpPr txBox="1"/>
          <p:nvPr/>
        </p:nvSpPr>
        <p:spPr>
          <a:xfrm>
            <a:off x="7517219" y="595423"/>
            <a:ext cx="1010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spc="300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35287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52" y="-57524"/>
            <a:ext cx="6508377" cy="1143000"/>
          </a:xfrm>
        </p:spPr>
        <p:txBody>
          <a:bodyPr/>
          <a:lstStyle/>
          <a:p>
            <a:r>
              <a:rPr lang="en-US" b="1" dirty="0"/>
              <a:t>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952" y="1654435"/>
            <a:ext cx="8358095" cy="391636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word computer comes from the word “</a:t>
            </a:r>
            <a:r>
              <a:rPr lang="en-US" sz="2400" b="1" dirty="0"/>
              <a:t>compute</a:t>
            </a:r>
            <a:r>
              <a:rPr lang="en-US" sz="2400" dirty="0"/>
              <a:t>”, which means, “</a:t>
            </a:r>
            <a:r>
              <a:rPr lang="en-US" sz="2400" b="1" dirty="0"/>
              <a:t>to calculate</a:t>
            </a:r>
            <a:r>
              <a:rPr lang="en-US" sz="2400" dirty="0"/>
              <a:t>” </a:t>
            </a:r>
          </a:p>
          <a:p>
            <a:pPr algn="just"/>
            <a:r>
              <a:rPr lang="en-US" sz="2200" dirty="0"/>
              <a:t>Thereby, A computer is an </a:t>
            </a:r>
            <a:r>
              <a:rPr lang="en-US" sz="2200" b="1" dirty="0"/>
              <a:t>electronic device </a:t>
            </a:r>
            <a:r>
              <a:rPr lang="en-US" sz="2200" dirty="0"/>
              <a:t>that processes data according to </a:t>
            </a:r>
            <a:r>
              <a:rPr lang="en-US" sz="2200" b="1" dirty="0"/>
              <a:t>instructions</a:t>
            </a:r>
            <a:r>
              <a:rPr lang="en-US" sz="2200" dirty="0"/>
              <a:t> that are provided by </a:t>
            </a:r>
            <a:r>
              <a:rPr lang="en-US" sz="2200" b="1" dirty="0"/>
              <a:t>computer programs</a:t>
            </a:r>
            <a:r>
              <a:rPr lang="en-US" sz="2200" dirty="0"/>
              <a:t>. Computers can be used to perform a wide range of tasks, from basic calculations to complex operations involving artificial intelligence (AI).</a:t>
            </a:r>
          </a:p>
          <a:p>
            <a:r>
              <a:rPr lang="en-US" sz="2400" dirty="0"/>
              <a:t>A computer is also called a </a:t>
            </a:r>
            <a:r>
              <a:rPr lang="en-US" sz="2400" b="1" dirty="0"/>
              <a:t>data processor</a:t>
            </a:r>
            <a:r>
              <a:rPr lang="en-US" sz="2400" i="1" dirty="0"/>
              <a:t> </a:t>
            </a:r>
            <a:r>
              <a:rPr lang="en-US" sz="2400" dirty="0"/>
              <a:t>because it can store, process, and retrieve data whenever desired.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2FC6F-1454-FA8D-DF22-85B4FC7CBC5A}"/>
              </a:ext>
            </a:extLst>
          </p:cNvPr>
          <p:cNvSpPr txBox="1"/>
          <p:nvPr/>
        </p:nvSpPr>
        <p:spPr>
          <a:xfrm>
            <a:off x="7517219" y="595423"/>
            <a:ext cx="1010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spc="300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87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33855" y="2170011"/>
            <a:ext cx="2384700" cy="31179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0"/>
            <a:ext cx="6508377" cy="1143000"/>
          </a:xfrm>
        </p:spPr>
        <p:txBody>
          <a:bodyPr/>
          <a:lstStyle/>
          <a:p>
            <a:r>
              <a:rPr lang="en-US" b="1" dirty="0"/>
              <a:t>Data Processing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824" y="1371600"/>
            <a:ext cx="4636368" cy="3916363"/>
          </a:xfrm>
        </p:spPr>
        <p:txBody>
          <a:bodyPr>
            <a:normAutofit/>
          </a:bodyPr>
          <a:lstStyle/>
          <a:p>
            <a:r>
              <a:rPr lang="en-US" sz="2400" dirty="0"/>
              <a:t>The activity of processing data using a computer is called </a:t>
            </a:r>
            <a:r>
              <a:rPr lang="en-US" sz="2400" b="1" dirty="0"/>
              <a:t>data processing </a:t>
            </a:r>
          </a:p>
          <a:p>
            <a:r>
              <a:rPr lang="en-US" sz="2400" b="1" dirty="0"/>
              <a:t>Data</a:t>
            </a:r>
            <a:r>
              <a:rPr lang="en-US" sz="2400" i="1" dirty="0"/>
              <a:t> </a:t>
            </a:r>
            <a:r>
              <a:rPr lang="en-US" sz="2400" dirty="0"/>
              <a:t> is raw material used as input and </a:t>
            </a:r>
            <a:r>
              <a:rPr lang="en-US" sz="2400" b="1" dirty="0"/>
              <a:t>information</a:t>
            </a:r>
            <a:r>
              <a:rPr lang="en-US" sz="2400" i="1" dirty="0"/>
              <a:t> </a:t>
            </a:r>
            <a:r>
              <a:rPr lang="en-US" sz="2400" dirty="0"/>
              <a:t> is processed data obtained as output of data processing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5E4EF-979B-53B0-9C7C-77F850FA861D}"/>
              </a:ext>
            </a:extLst>
          </p:cNvPr>
          <p:cNvSpPr txBox="1"/>
          <p:nvPr/>
        </p:nvSpPr>
        <p:spPr>
          <a:xfrm>
            <a:off x="7517219" y="595423"/>
            <a:ext cx="1010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spc="300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79578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93085"/>
            <a:ext cx="7192683" cy="788852"/>
          </a:xfrm>
        </p:spPr>
        <p:txBody>
          <a:bodyPr/>
          <a:lstStyle/>
          <a:p>
            <a:r>
              <a:rPr lang="en-US" b="1" dirty="0"/>
              <a:t>Characteristics of Computers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424" y="1604909"/>
            <a:ext cx="8529808" cy="5010592"/>
          </a:xfrm>
        </p:spPr>
        <p:txBody>
          <a:bodyPr>
            <a:noAutofit/>
          </a:bodyPr>
          <a:lstStyle/>
          <a:p>
            <a:r>
              <a:rPr lang="en-US" sz="2100" b="1" dirty="0"/>
              <a:t>Automatic: </a:t>
            </a:r>
            <a:r>
              <a:rPr lang="en-US" sz="2100" dirty="0"/>
              <a:t>Given a job, computer can work on it automatically without human interventions</a:t>
            </a:r>
          </a:p>
          <a:p>
            <a:r>
              <a:rPr lang="en-US" sz="2100" b="1" dirty="0"/>
              <a:t>Speed: </a:t>
            </a:r>
            <a:r>
              <a:rPr lang="en-US" sz="2100" dirty="0"/>
              <a:t>Computer can perform data processing jobs very fast, usually measured in </a:t>
            </a:r>
            <a:r>
              <a:rPr lang="en-US" sz="2100" b="1" dirty="0"/>
              <a:t>microseconds </a:t>
            </a:r>
            <a:r>
              <a:rPr lang="en-US" sz="2100" dirty="0"/>
              <a:t>(10</a:t>
            </a:r>
            <a:r>
              <a:rPr lang="en-US" sz="2100" baseline="30000" dirty="0"/>
              <a:t>-6</a:t>
            </a:r>
            <a:r>
              <a:rPr lang="en-US" sz="2100" dirty="0"/>
              <a:t>), </a:t>
            </a:r>
            <a:r>
              <a:rPr lang="en-US" sz="2100" b="1" dirty="0"/>
              <a:t>nanoseconds </a:t>
            </a:r>
            <a:r>
              <a:rPr lang="en-US" sz="2100" dirty="0"/>
              <a:t>(10</a:t>
            </a:r>
            <a:r>
              <a:rPr lang="en-US" sz="2100" baseline="30000" dirty="0"/>
              <a:t>-9</a:t>
            </a:r>
            <a:r>
              <a:rPr lang="en-US" sz="2100" dirty="0"/>
              <a:t>), and </a:t>
            </a:r>
            <a:r>
              <a:rPr lang="en-US" sz="2100" b="1" dirty="0"/>
              <a:t>picoseconds </a:t>
            </a:r>
            <a:r>
              <a:rPr lang="en-US" sz="2100" dirty="0"/>
              <a:t>(10</a:t>
            </a:r>
            <a:r>
              <a:rPr lang="en-US" sz="2100" baseline="30000" dirty="0"/>
              <a:t>-12</a:t>
            </a:r>
            <a:r>
              <a:rPr lang="en-US" sz="2100" dirty="0"/>
              <a:t>) </a:t>
            </a:r>
          </a:p>
          <a:p>
            <a:r>
              <a:rPr lang="en-US" sz="2100" b="1" dirty="0"/>
              <a:t>Accuracy: </a:t>
            </a:r>
            <a:r>
              <a:rPr lang="en-US" sz="2100" dirty="0"/>
              <a:t>Accuracy of a computer is consistently high and the degree of its accuracy depends upon its design. Computer errors caused due to incorrect input data or unreliable programs are often referred to as </a:t>
            </a:r>
            <a:r>
              <a:rPr lang="en-US" sz="2100" i="1" dirty="0"/>
              <a:t>Garbage-In-Garbage-Out </a:t>
            </a:r>
            <a:r>
              <a:rPr lang="en-US" sz="2100" b="1" dirty="0"/>
              <a:t>(GIGO) </a:t>
            </a:r>
          </a:p>
          <a:p>
            <a:r>
              <a:rPr lang="en-US" sz="2100" b="1" dirty="0"/>
              <a:t>Diligence: </a:t>
            </a:r>
            <a:r>
              <a:rPr lang="en-US" sz="2100" dirty="0"/>
              <a:t>Computer is free from monotony, tiredness, and lack of concentration. It can continuously work for hours without creating any error and without grumbling </a:t>
            </a:r>
          </a:p>
          <a:p>
            <a:endParaRPr lang="en-US" sz="2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35F9A-7FDC-F69A-2CCA-F813324A6269}"/>
              </a:ext>
            </a:extLst>
          </p:cNvPr>
          <p:cNvSpPr txBox="1"/>
          <p:nvPr/>
        </p:nvSpPr>
        <p:spPr>
          <a:xfrm>
            <a:off x="7517219" y="595423"/>
            <a:ext cx="1010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spc="300" dirty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9656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9206"/>
            <a:ext cx="8387977" cy="4543609"/>
          </a:xfrm>
        </p:spPr>
        <p:txBody>
          <a:bodyPr>
            <a:noAutofit/>
          </a:bodyPr>
          <a:lstStyle/>
          <a:p>
            <a:r>
              <a:rPr lang="en-US" sz="2200" b="1" dirty="0"/>
              <a:t>Versatility: </a:t>
            </a:r>
            <a:r>
              <a:rPr lang="en-US" sz="2200" dirty="0"/>
              <a:t>Computer is capable of performing almost any task, if the task can be reduced to a finite series of logical steps</a:t>
            </a:r>
          </a:p>
          <a:p>
            <a:r>
              <a:rPr lang="en-US" sz="2200" dirty="0"/>
              <a:t> </a:t>
            </a:r>
            <a:r>
              <a:rPr lang="en-US" sz="2200" b="1" dirty="0"/>
              <a:t>Power of Remembering: </a:t>
            </a:r>
            <a:r>
              <a:rPr lang="en-US" sz="2200" dirty="0"/>
              <a:t>Computer can store and recall any amount of information because of its secondary storage capability. It forgets or looses certain information only when it is asked to do so</a:t>
            </a:r>
          </a:p>
          <a:p>
            <a:r>
              <a:rPr lang="en-US" sz="2200" b="1" dirty="0"/>
              <a:t>No I.Q.: </a:t>
            </a:r>
            <a:r>
              <a:rPr lang="en-US" sz="2200" dirty="0"/>
              <a:t>A computer does only what it is programmed to do. It cannot take its own </a:t>
            </a:r>
            <a:r>
              <a:rPr lang="en-US" sz="2200" i="1" dirty="0"/>
              <a:t>decision </a:t>
            </a:r>
            <a:r>
              <a:rPr lang="en-US" sz="2200" dirty="0"/>
              <a:t> in this regard </a:t>
            </a:r>
          </a:p>
          <a:p>
            <a:r>
              <a:rPr lang="en-US" sz="2200" b="1" dirty="0"/>
              <a:t>No Feelings: </a:t>
            </a:r>
            <a:r>
              <a:rPr lang="en-US" sz="2200" dirty="0"/>
              <a:t>Computers are devoid of emotions. Their judgment is based on the instructions given to them in the form of programs that are written by us (human beings) 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199" y="301819"/>
            <a:ext cx="7192683" cy="1143000"/>
          </a:xfrm>
        </p:spPr>
        <p:txBody>
          <a:bodyPr/>
          <a:lstStyle/>
          <a:p>
            <a:r>
              <a:rPr lang="en-US" b="1" dirty="0"/>
              <a:t>Characteristics of Computers</a:t>
            </a:r>
            <a:r>
              <a:rPr lang="en-US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8B2672-BA49-29C1-FFC6-9740AD699E27}"/>
              </a:ext>
            </a:extLst>
          </p:cNvPr>
          <p:cNvSpPr txBox="1"/>
          <p:nvPr/>
        </p:nvSpPr>
        <p:spPr>
          <a:xfrm>
            <a:off x="7517219" y="595423"/>
            <a:ext cx="1010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spc="300" dirty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0824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1701"/>
            <a:ext cx="6508377" cy="1143000"/>
          </a:xfrm>
        </p:spPr>
        <p:txBody>
          <a:bodyPr/>
          <a:lstStyle/>
          <a:p>
            <a:r>
              <a:rPr lang="en-US" b="1" dirty="0"/>
              <a:t>Evolution of Computers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25922"/>
            <a:ext cx="8387977" cy="139578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abacus is a manually operated digital computer used in ancient civilizations </a:t>
            </a:r>
          </a:p>
          <a:p>
            <a:r>
              <a:rPr lang="en-US" sz="2400" dirty="0"/>
              <a:t>The use of the word </a:t>
            </a:r>
            <a:r>
              <a:rPr lang="en-US" sz="2400" i="1" dirty="0"/>
              <a:t>abacus</a:t>
            </a:r>
            <a:r>
              <a:rPr lang="en-US" sz="2400" dirty="0"/>
              <a:t> dates before 1387 AD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0422" y="3400046"/>
            <a:ext cx="7079285" cy="3024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B77DF9-CBEA-E74B-2C78-03880079AC8E}"/>
              </a:ext>
            </a:extLst>
          </p:cNvPr>
          <p:cNvSpPr txBox="1"/>
          <p:nvPr/>
        </p:nvSpPr>
        <p:spPr>
          <a:xfrm>
            <a:off x="7517219" y="595423"/>
            <a:ext cx="1010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spc="300" dirty="0">
                <a:solidFill>
                  <a:schemeClr val="bg1"/>
                </a:solidFill>
                <a:latin typeface="Arial Black" panose="020B0A040201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56458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45988" y="2389101"/>
            <a:ext cx="3724083" cy="44688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649" y="331701"/>
            <a:ext cx="6508377" cy="1143000"/>
          </a:xfrm>
        </p:spPr>
        <p:txBody>
          <a:bodyPr/>
          <a:lstStyle/>
          <a:p>
            <a:r>
              <a:rPr lang="en-US" b="1" dirty="0"/>
              <a:t>Evolution of Computers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965" y="1925922"/>
            <a:ext cx="6405335" cy="1437656"/>
          </a:xfrm>
        </p:spPr>
        <p:txBody>
          <a:bodyPr>
            <a:noAutofit/>
          </a:bodyPr>
          <a:lstStyle/>
          <a:p>
            <a:r>
              <a:rPr lang="en-US" sz="2400" dirty="0"/>
              <a:t>The first mechanical adding machine (calculator) was invented by </a:t>
            </a:r>
            <a:r>
              <a:rPr lang="en-US" sz="2400" b="1" dirty="0" err="1"/>
              <a:t>Blaise</a:t>
            </a:r>
            <a:r>
              <a:rPr lang="en-US" sz="2400" b="1" dirty="0"/>
              <a:t> Pascal</a:t>
            </a:r>
            <a:r>
              <a:rPr lang="en-US" sz="2400" dirty="0"/>
              <a:t> (French) in 1642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19107" y="172767"/>
            <a:ext cx="1653980" cy="2216334"/>
          </a:xfrm>
          <a:prstGeom prst="rect">
            <a:avLst/>
          </a:prstGeom>
        </p:spPr>
      </p:pic>
      <p:pic>
        <p:nvPicPr>
          <p:cNvPr id="2050" name="Picture 2" descr="The Pascaline Calculator, By Blaise Pascal By Areeba, 50% OFF">
            <a:extLst>
              <a:ext uri="{FF2B5EF4-FFF2-40B4-BE49-F238E27FC236}">
                <a16:creationId xmlns:a16="http://schemas.microsoft.com/office/drawing/2014/main" id="{FC3D06E1-A345-74A0-AC39-7888775B8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49" y="4059290"/>
            <a:ext cx="4745541" cy="210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822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28614" y="224230"/>
            <a:ext cx="2304461" cy="230446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290" y="2558725"/>
            <a:ext cx="7818104" cy="4196350"/>
          </a:xfrm>
        </p:spPr>
        <p:txBody>
          <a:bodyPr>
            <a:normAutofit fontScale="85000" lnSpcReduction="20000"/>
          </a:bodyPr>
          <a:lstStyle/>
          <a:p>
            <a:r>
              <a:rPr lang="en-US" sz="2800" i="1" dirty="0"/>
              <a:t>Charles Babbage </a:t>
            </a:r>
            <a:r>
              <a:rPr lang="en-US" sz="2800" dirty="0"/>
              <a:t> is considered to be the father of modern digital computers</a:t>
            </a:r>
          </a:p>
          <a:p>
            <a:r>
              <a:rPr lang="en-US" sz="2800" dirty="0"/>
              <a:t>He is best remembered now for originating the concept of a programmable computer</a:t>
            </a:r>
          </a:p>
          <a:p>
            <a:r>
              <a:rPr lang="en-US" sz="2800" dirty="0"/>
              <a:t>He designed “Difference Engine” in 1822</a:t>
            </a:r>
          </a:p>
          <a:p>
            <a:r>
              <a:rPr lang="en-US" sz="2800" dirty="0"/>
              <a:t>He designed a </a:t>
            </a:r>
            <a:r>
              <a:rPr lang="en-US" sz="2800" i="1" dirty="0"/>
              <a:t>fully automatic analytical engine </a:t>
            </a:r>
            <a:r>
              <a:rPr lang="en-US" sz="2800" dirty="0"/>
              <a:t> in 1842 for performing basic arithmetic functions</a:t>
            </a:r>
          </a:p>
          <a:p>
            <a:r>
              <a:rPr lang="en-US" sz="2800" dirty="0"/>
              <a:t>His efforts established a number of principles that are fundamental to the design of any digital computer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798955" y="476667"/>
            <a:ext cx="4572001" cy="1143000"/>
          </a:xfrm>
        </p:spPr>
        <p:txBody>
          <a:bodyPr/>
          <a:lstStyle/>
          <a:p>
            <a:r>
              <a:rPr lang="en-US" b="1" dirty="0"/>
              <a:t>Evolution of Computers</a:t>
            </a:r>
            <a:r>
              <a:rPr lang="en-US" dirty="0"/>
              <a:t> </a:t>
            </a:r>
          </a:p>
        </p:txBody>
      </p:sp>
      <p:pic>
        <p:nvPicPr>
          <p:cNvPr id="3074" name="Picture 2" descr="Difference Engine | Calculating Machine, Charles Babbage, 19th Century |  Britannica">
            <a:extLst>
              <a:ext uri="{FF2B5EF4-FFF2-40B4-BE49-F238E27FC236}">
                <a16:creationId xmlns:a16="http://schemas.microsoft.com/office/drawing/2014/main" id="{44DE1C87-FDC3-429E-C0C5-2AE28C62F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25" y="102925"/>
            <a:ext cx="2138239" cy="237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261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6642"/>
            <a:ext cx="6508377" cy="1143000"/>
          </a:xfrm>
        </p:spPr>
        <p:txBody>
          <a:bodyPr/>
          <a:lstStyle/>
          <a:p>
            <a:r>
              <a:rPr lang="en-US" b="1" dirty="0"/>
              <a:t>Some Well Known Early Computers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209800"/>
            <a:ext cx="7371544" cy="4475485"/>
          </a:xfrm>
        </p:spPr>
        <p:txBody>
          <a:bodyPr>
            <a:normAutofit/>
          </a:bodyPr>
          <a:lstStyle/>
          <a:p>
            <a:r>
              <a:rPr lang="en-US" sz="2400" dirty="0"/>
              <a:t>The Mark I Computer (1937-44)</a:t>
            </a:r>
          </a:p>
          <a:p>
            <a:r>
              <a:rPr lang="en-US" sz="2400" dirty="0"/>
              <a:t>The ENIAC (1943-46)</a:t>
            </a:r>
          </a:p>
          <a:p>
            <a:r>
              <a:rPr lang="en-US" sz="2400" dirty="0"/>
              <a:t>The EDVAC (1946-52)</a:t>
            </a:r>
          </a:p>
          <a:p>
            <a:r>
              <a:rPr lang="en-US" sz="2400" dirty="0"/>
              <a:t>The EDSAC (1947-49)</a:t>
            </a:r>
          </a:p>
          <a:p>
            <a:r>
              <a:rPr lang="en-US" sz="2400" dirty="0"/>
              <a:t>Manchester Mark I (1948)</a:t>
            </a:r>
          </a:p>
          <a:p>
            <a:r>
              <a:rPr lang="en-US" sz="2400" dirty="0"/>
              <a:t>The UNIVAC I (1951)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68EE9C-10A8-D9EC-FDB5-9099DABE84F1}"/>
              </a:ext>
            </a:extLst>
          </p:cNvPr>
          <p:cNvSpPr txBox="1"/>
          <p:nvPr/>
        </p:nvSpPr>
        <p:spPr>
          <a:xfrm>
            <a:off x="7517219" y="595423"/>
            <a:ext cx="1010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spc="300" dirty="0">
                <a:solidFill>
                  <a:schemeClr val="bg1"/>
                </a:solidFill>
                <a:latin typeface="Arial Black" panose="020B0A040201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94307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46642"/>
            <a:ext cx="6508377" cy="1143000"/>
          </a:xfrm>
        </p:spPr>
        <p:txBody>
          <a:bodyPr/>
          <a:lstStyle/>
          <a:p>
            <a:r>
              <a:rPr lang="en-US" b="1" dirty="0"/>
              <a:t>Computer Generations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000445"/>
            <a:ext cx="8358095" cy="3916363"/>
          </a:xfrm>
        </p:spPr>
        <p:txBody>
          <a:bodyPr>
            <a:noAutofit/>
          </a:bodyPr>
          <a:lstStyle/>
          <a:p>
            <a:r>
              <a:rPr lang="en-US" sz="2800" dirty="0"/>
              <a:t>“</a:t>
            </a:r>
            <a:r>
              <a:rPr lang="en-US" sz="2800" i="1" dirty="0"/>
              <a:t>Generation</a:t>
            </a:r>
            <a:r>
              <a:rPr lang="en-US" sz="2800" dirty="0"/>
              <a:t>” provides a framework for the growth of computer industry</a:t>
            </a:r>
          </a:p>
          <a:p>
            <a:r>
              <a:rPr lang="en-US" sz="2800" dirty="0"/>
              <a:t>Originally it was used to distinguish between various hardware technologies, but now it has been extended to include both hardware and software</a:t>
            </a:r>
          </a:p>
          <a:p>
            <a:r>
              <a:rPr lang="en-US" sz="2800" dirty="0"/>
              <a:t>Till today, there are five computer generations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7756A-0AED-AF93-15FE-EA4E3AD6441D}"/>
              </a:ext>
            </a:extLst>
          </p:cNvPr>
          <p:cNvSpPr txBox="1"/>
          <p:nvPr/>
        </p:nvSpPr>
        <p:spPr>
          <a:xfrm>
            <a:off x="7262816" y="595423"/>
            <a:ext cx="1423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spc="300" dirty="0">
                <a:solidFill>
                  <a:schemeClr val="bg1"/>
                </a:solidFill>
                <a:latin typeface="Arial Black" panose="020B0A040201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9152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199" y="757272"/>
            <a:ext cx="6508377" cy="1143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Generation Computer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8211" y="2081951"/>
            <a:ext cx="5489280" cy="40785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/>
          <a:srcRect l="23700" t="4291" r="23124"/>
          <a:stretch/>
        </p:blipFill>
        <p:spPr>
          <a:xfrm>
            <a:off x="7174048" y="2127213"/>
            <a:ext cx="1559137" cy="37416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20418" y="6321432"/>
            <a:ext cx="2493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Vacuum tube based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4054" y="6262266"/>
            <a:ext cx="1716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Vacuum tube</a:t>
            </a:r>
          </a:p>
        </p:txBody>
      </p:sp>
    </p:spTree>
    <p:extLst>
      <p:ext uri="{BB962C8B-B14F-4D97-AF65-F5344CB8AC3E}">
        <p14:creationId xmlns:p14="http://schemas.microsoft.com/office/powerpoint/2010/main" val="448681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757272"/>
            <a:ext cx="6508377" cy="1143000"/>
          </a:xfrm>
        </p:spPr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Generation Computer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06382" y="2186703"/>
            <a:ext cx="3937617" cy="28547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5563" y="2186703"/>
            <a:ext cx="4668306" cy="37579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65899" y="5404850"/>
            <a:ext cx="1168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Transistor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4709" y="6111927"/>
            <a:ext cx="2008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Transistor based.</a:t>
            </a:r>
          </a:p>
        </p:txBody>
      </p:sp>
    </p:spTree>
    <p:extLst>
      <p:ext uri="{BB962C8B-B14F-4D97-AF65-F5344CB8AC3E}">
        <p14:creationId xmlns:p14="http://schemas.microsoft.com/office/powerpoint/2010/main" val="1913909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25170"/>
            <a:ext cx="6508377" cy="1143000"/>
          </a:xfrm>
        </p:spPr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Generation Computer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6893" y="2671183"/>
            <a:ext cx="5452879" cy="39397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/>
          <a:srcRect l="7993" t="5445" r="4892" b="7016"/>
          <a:stretch/>
        </p:blipFill>
        <p:spPr>
          <a:xfrm>
            <a:off x="5512255" y="2173610"/>
            <a:ext cx="3351873" cy="27366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3453" y="5224522"/>
            <a:ext cx="424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IC</a:t>
            </a:r>
          </a:p>
        </p:txBody>
      </p:sp>
    </p:spTree>
    <p:extLst>
      <p:ext uri="{BB962C8B-B14F-4D97-AF65-F5344CB8AC3E}">
        <p14:creationId xmlns:p14="http://schemas.microsoft.com/office/powerpoint/2010/main" val="2774929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12076"/>
            <a:ext cx="6508377" cy="11430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Generation Computer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70918" y="2592619"/>
            <a:ext cx="3406007" cy="3009960"/>
          </a:xfrm>
          <a:prstGeom prst="rect">
            <a:avLst/>
          </a:prstGeom>
        </p:spPr>
      </p:pic>
      <p:pic>
        <p:nvPicPr>
          <p:cNvPr id="4098" name="Picture 2" descr="JAITLY Core i5 (5th Gen) (8 GB / 2 TB / Linux) Assembled Desktop Computer  Price in India - Buy JAITLY Core i5 (5th Gen) (8 GB / 2 TB / Linux)  Assembled Desktop Computer online at Flipkart.com">
            <a:extLst>
              <a:ext uri="{FF2B5EF4-FFF2-40B4-BE49-F238E27FC236}">
                <a16:creationId xmlns:a16="http://schemas.microsoft.com/office/drawing/2014/main" id="{969B0A4C-5610-8B9F-3409-733F05D65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68" y="1873404"/>
            <a:ext cx="3947532" cy="394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220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25170"/>
            <a:ext cx="6508377" cy="1143000"/>
          </a:xfrm>
        </p:spPr>
        <p:txBody>
          <a:bodyPr/>
          <a:lstStyle/>
          <a:p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Generation Computer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0050" y="1928246"/>
            <a:ext cx="4724400" cy="4546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26496" y="2092095"/>
            <a:ext cx="2932889" cy="427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661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F0136A-5AAB-2FE8-A4D0-86496C7952B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10" y="1432917"/>
            <a:ext cx="8881181" cy="399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42812"/>
      </p:ext>
    </p:extLst>
  </p:cSld>
  <p:clrMapOvr>
    <a:masterClrMapping/>
  </p:clrMapOvr>
</p:sld>
</file>

<file path=ppt/theme/theme1.xml><?xml version="1.0" encoding="utf-8"?>
<a:theme xmlns:a="http://schemas.openxmlformats.org/drawingml/2006/main" name="Plaza">
  <a:themeElements>
    <a:clrScheme name="Plaza">
      <a:dk1>
        <a:sysClr val="windowText" lastClr="000000"/>
      </a:dk1>
      <a:lt1>
        <a:sysClr val="window" lastClr="FFFFFF"/>
      </a:lt1>
      <a:dk2>
        <a:srgbClr val="333333"/>
      </a:dk2>
      <a:lt2>
        <a:srgbClr val="CCCCCC"/>
      </a:lt2>
      <a:accent1>
        <a:srgbClr val="990000"/>
      </a:accent1>
      <a:accent2>
        <a:srgbClr val="580101"/>
      </a:accent2>
      <a:accent3>
        <a:srgbClr val="E94A00"/>
      </a:accent3>
      <a:accent4>
        <a:srgbClr val="EB8F00"/>
      </a:accent4>
      <a:accent5>
        <a:srgbClr val="A4A4A4"/>
      </a:accent5>
      <a:accent6>
        <a:srgbClr val="666666"/>
      </a:accent6>
      <a:hlink>
        <a:srgbClr val="D01010"/>
      </a:hlink>
      <a:folHlink>
        <a:srgbClr val="E6682E"/>
      </a:folHlink>
    </a:clrScheme>
    <a:fontScheme name="Plaza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Plaza.thmx</Template>
  <TotalTime>330</TotalTime>
  <Words>703</Words>
  <Application>Microsoft Office PowerPoint</Application>
  <PresentationFormat>On-screen Show (4:3)</PresentationFormat>
  <Paragraphs>76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Century Gothic</vt:lpstr>
      <vt:lpstr>Google Sans</vt:lpstr>
      <vt:lpstr>mrs-eaves-xl-serif</vt:lpstr>
      <vt:lpstr>Wingdings</vt:lpstr>
      <vt:lpstr>Wingdings 2</vt:lpstr>
      <vt:lpstr>Plaza</vt:lpstr>
      <vt:lpstr>Office Theme</vt:lpstr>
      <vt:lpstr>Introduction to Computers </vt:lpstr>
      <vt:lpstr>Learning Objectives </vt:lpstr>
      <vt:lpstr>Computer</vt:lpstr>
      <vt:lpstr>Data Processing </vt:lpstr>
      <vt:lpstr>Characteristics of Computers </vt:lpstr>
      <vt:lpstr>Characteristics of Computers </vt:lpstr>
      <vt:lpstr>Evolution of Computers </vt:lpstr>
      <vt:lpstr>Evolution of Computers </vt:lpstr>
      <vt:lpstr>Evolution of Computers </vt:lpstr>
      <vt:lpstr>Some Well Known Early Computers </vt:lpstr>
      <vt:lpstr>Computer Generations </vt:lpstr>
      <vt:lpstr>1st Generation Computer </vt:lpstr>
      <vt:lpstr>2nd Generation Computer </vt:lpstr>
      <vt:lpstr>3rd Generation Computer </vt:lpstr>
      <vt:lpstr>4th Generation Computer</vt:lpstr>
      <vt:lpstr>5th Generation Computer</vt:lpstr>
      <vt:lpstr>PowerPoint Presentation</vt:lpstr>
    </vt:vector>
  </TitlesOfParts>
  <Company>University of Trento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Computers </dc:title>
  <dc:creator>S. R. H. Noori</dc:creator>
  <cp:lastModifiedBy>Rahat Khan</cp:lastModifiedBy>
  <cp:revision>48</cp:revision>
  <dcterms:created xsi:type="dcterms:W3CDTF">2014-09-13T15:34:25Z</dcterms:created>
  <dcterms:modified xsi:type="dcterms:W3CDTF">2024-07-03T14:51:47Z</dcterms:modified>
</cp:coreProperties>
</file>